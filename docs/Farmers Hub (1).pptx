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42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gif"/><Relationship Id="rId4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DE8D2"/>
          </a:solidFill>
          <a:ln w="12700">
            <a:solidFill>
              <a:srgbClr val="DDE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365760" y="5394960"/>
            <a:ext cx="12984480" cy="1645920"/>
          </a:xfrm>
          <a:prstGeom prst="arc">
            <a:avLst/>
          </a:prstGeom>
          <a:solidFill>
            <a:srgbClr val="C7DDB9"/>
          </a:solidFill>
          <a:ln w="12700">
            <a:solidFill>
              <a:srgbClr val="C7DDB9"/>
            </a:solidFill>
            <a:prstDash val="solid"/>
          </a:ln>
        </p:spPr>
      </p:sp>
      <p:pic>
        <p:nvPicPr>
          <p:cNvPr id="4" name="Image 0" descr="/mnt/data/sky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170432"/>
          </a:xfrm>
          <a:prstGeom prst="rect">
            <a:avLst/>
          </a:prstGeom>
        </p:spPr>
      </p:pic>
      <p:pic>
        <p:nvPicPr>
          <p:cNvPr id="5" name="Image 1" descr="/mnt/data/sun_glow.gif"/>
          <p:cNvPicPr>
            <a:picLocks noChangeAspect="1"/>
          </p:cNvPicPr>
          <p:nvPr/>
        </p:nvPicPr>
        <p:blipFill>
          <a:blip r:embed="rId4">
            <a:alphaModFix amt="94000"/>
          </a:blip>
          <a:stretch>
            <a:fillRect/>
          </a:stretch>
        </p:blipFill>
        <p:spPr>
          <a:xfrm>
            <a:off x="10561320" y="36576"/>
            <a:ext cx="1024128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>
              <a:alpha val="0"/>
            </a:srgbClr>
          </a:solidFill>
          <a:ln w="12700">
            <a:solidFill>
              <a:srgbClr val="F8F6EF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356848" y="6332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 rot="10800000">
            <a:off x="-457200" y="4526280"/>
            <a:ext cx="13258800" cy="2011680"/>
          </a:xfrm>
          <a:prstGeom prst="arc">
            <a:avLst/>
          </a:prstGeom>
          <a:solidFill>
            <a:srgbClr val="9BC37A"/>
          </a:solidFill>
          <a:ln w="12700">
            <a:solidFill>
              <a:srgbClr val="9BC37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 rot="10800000">
            <a:off x="-274320" y="4846320"/>
            <a:ext cx="12801600" cy="1645920"/>
          </a:xfrm>
          <a:prstGeom prst="arc">
            <a:avLst/>
          </a:prstGeom>
          <a:solidFill>
            <a:srgbClr val="7FB063"/>
          </a:solidFill>
          <a:ln w="12700">
            <a:solidFill>
              <a:srgbClr val="7FB06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rot="10800000">
            <a:off x="-182880" y="5212080"/>
            <a:ext cx="12801600" cy="1097280"/>
          </a:xfrm>
          <a:prstGeom prst="arc">
            <a:avLst/>
          </a:prstGeom>
          <a:solidFill>
            <a:srgbClr val="5C8F46"/>
          </a:solidFill>
          <a:ln w="12700">
            <a:solidFill>
              <a:srgbClr val="5C8F4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68680" y="1572768"/>
            <a:ext cx="1143000" cy="1143000"/>
          </a:xfrm>
          <a:prstGeom prst="ellipse">
            <a:avLst/>
          </a:prstGeom>
          <a:solidFill>
            <a:srgbClr val="E8F0DE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68680" y="1682496"/>
            <a:ext cx="1143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🌱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148840" y="157276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95C38"/>
                </a:solidFill>
                <a:latin typeface="Forte" panose="03060902040502070203" pitchFamily="66" charset="0"/>
                <a:ea typeface="Aptos Display" pitchFamily="34" charset="-122"/>
                <a:cs typeface="Aptos Display" pitchFamily="34" charset="-120"/>
              </a:rPr>
              <a:t>Farmer’s Hub</a:t>
            </a:r>
            <a:endParaRPr lang="en-US" sz="2700" dirty="0">
              <a:latin typeface="Forte" panose="03060902040502070203" pitchFamily="66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176272" y="2331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Market for farmers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96112" y="3108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Connecting local farmers with fresh-product buyers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001000" y="1627632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75320" y="1874520"/>
            <a:ext cx="25146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 digital marketplace concept that shortens the path from farm to table.</a:t>
            </a:r>
            <a:endParaRPr lang="en-US" sz="1500" dirty="0"/>
          </a:p>
        </p:txBody>
      </p:sp>
      <p:pic>
        <p:nvPicPr>
          <p:cNvPr id="26" name="AnimeFarmerIcon1" descr="Small animated cartoon anime farmer icon, waving and holding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91440"/>
            <a:ext cx="960120" cy="8520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D52368C-AF5A-00C9-AEC4-2BEA133C4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052" y="1325252"/>
            <a:ext cx="1830055" cy="183005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DE8D2"/>
          </a:solidFill>
          <a:ln w="12700">
            <a:solidFill>
              <a:srgbClr val="DDE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365760" y="5394960"/>
            <a:ext cx="12984480" cy="1645920"/>
          </a:xfrm>
          <a:prstGeom prst="arc">
            <a:avLst/>
          </a:prstGeom>
          <a:solidFill>
            <a:srgbClr val="C7DDB9"/>
          </a:solidFill>
          <a:ln w="12700">
            <a:solidFill>
              <a:srgbClr val="C7DDB9"/>
            </a:solidFill>
            <a:prstDash val="solid"/>
          </a:ln>
        </p:spPr>
      </p:sp>
      <p:pic>
        <p:nvPicPr>
          <p:cNvPr id="4" name="Image 0" descr="/mnt/data/sky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170432"/>
          </a:xfrm>
          <a:prstGeom prst="rect">
            <a:avLst/>
          </a:prstGeom>
        </p:spPr>
      </p:pic>
      <p:pic>
        <p:nvPicPr>
          <p:cNvPr id="5" name="Image 1" descr="/mnt/data/sun_glow.gif"/>
          <p:cNvPicPr>
            <a:picLocks noChangeAspect="1"/>
          </p:cNvPicPr>
          <p:nvPr/>
        </p:nvPicPr>
        <p:blipFill>
          <a:blip r:embed="rId4">
            <a:alphaModFix amt="94000"/>
          </a:blip>
          <a:stretch>
            <a:fillRect/>
          </a:stretch>
        </p:blipFill>
        <p:spPr>
          <a:xfrm>
            <a:off x="10561320" y="36576"/>
            <a:ext cx="1024128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356848" y="6272784"/>
            <a:ext cx="347472" cy="347472"/>
          </a:xfrm>
          <a:prstGeom prst="ellipse">
            <a:avLst/>
          </a:prstGeom>
          <a:solidFill>
            <a:srgbClr val="29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356848" y="6332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8368" y="5120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Brief Introduction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" y="941832"/>
            <a:ext cx="1828800" cy="0"/>
          </a:xfrm>
          <a:prstGeom prst="line">
            <a:avLst/>
          </a:prstGeom>
          <a:noFill/>
          <a:ln w="12700">
            <a:solidFill>
              <a:srgbClr val="8DB17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1371600"/>
            <a:ext cx="6446520" cy="4389120"/>
          </a:xfrm>
          <a:prstGeom prst="roundRect">
            <a:avLst>
              <a:gd name="adj" fmla="val 1667"/>
            </a:avLst>
          </a:prstGeom>
          <a:solidFill>
            <a:srgbClr val="FEFCF8">
              <a:alpha val="97000"/>
            </a:srgbClr>
          </a:solidFill>
          <a:ln w="12700">
            <a:solidFill>
              <a:srgbClr val="D8E4D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41248" y="1609344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3E7A46"/>
          </a:solidFill>
          <a:ln w="12700">
            <a:solidFill>
              <a:srgbClr val="3E7A4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1248" y="16504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868680" y="19751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069848" y="1993392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Hub is a web-based application for authentic local farmer-to-consumer trading.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68680" y="28895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069848" y="2907792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can demonstrate crop authenticity and sell directly to consumers.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68680" y="38039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069848" y="3822192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Consumers can discover fresher local products through trusted nearby farmers.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7360920" y="1517904"/>
            <a:ext cx="4096512" cy="4096512"/>
          </a:xfrm>
          <a:prstGeom prst="roundRect">
            <a:avLst>
              <a:gd name="adj" fmla="val 1786"/>
            </a:avLst>
          </a:prstGeom>
          <a:solidFill>
            <a:srgbClr val="EDF5E6"/>
          </a:solidFill>
          <a:ln w="12700">
            <a:solidFill>
              <a:srgbClr val="D6E5C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659368" y="2011680"/>
            <a:ext cx="1481328" cy="1481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59368" y="2121408"/>
            <a:ext cx="148132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🌾</a:t>
            </a:r>
            <a:endParaRPr lang="en-US" sz="3400" dirty="0"/>
          </a:p>
        </p:txBody>
      </p:sp>
      <p:sp>
        <p:nvSpPr>
          <p:cNvPr id="22" name="Shape 18"/>
          <p:cNvSpPr/>
          <p:nvPr/>
        </p:nvSpPr>
        <p:spPr>
          <a:xfrm>
            <a:off x="7754112" y="3566160"/>
            <a:ext cx="3310128" cy="1389888"/>
          </a:xfrm>
          <a:prstGeom prst="roundRect">
            <a:avLst>
              <a:gd name="adj" fmla="val 526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E4D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918704" y="362102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7AA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8229600" y="3730752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products, fewer middle layers, and clearer trust between growers and buyers.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6" name="AnimeFarmerIcon2" descr="Small animated cartoon anime farmer icon, waving and holding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91440"/>
            <a:ext cx="960120" cy="8520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FA0BE58-FD8E-8BF8-807E-3DE6BA98CA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4512" y="5888737"/>
            <a:ext cx="1152144" cy="115214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DE8D2"/>
          </a:solidFill>
          <a:ln w="12700">
            <a:solidFill>
              <a:srgbClr val="DDE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365760" y="5394960"/>
            <a:ext cx="12984480" cy="1645920"/>
          </a:xfrm>
          <a:prstGeom prst="arc">
            <a:avLst/>
          </a:prstGeom>
          <a:solidFill>
            <a:srgbClr val="C7DDB9"/>
          </a:solidFill>
          <a:ln w="12700">
            <a:solidFill>
              <a:srgbClr val="C7DDB9"/>
            </a:solidFill>
            <a:prstDash val="solid"/>
          </a:ln>
        </p:spPr>
      </p:sp>
      <p:pic>
        <p:nvPicPr>
          <p:cNvPr id="4" name="Image 0" descr="/mnt/data/sky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170432"/>
          </a:xfrm>
          <a:prstGeom prst="rect">
            <a:avLst/>
          </a:prstGeom>
        </p:spPr>
      </p:pic>
      <p:pic>
        <p:nvPicPr>
          <p:cNvPr id="5" name="Image 1" descr="/mnt/data/sun_glow.gif"/>
          <p:cNvPicPr>
            <a:picLocks noChangeAspect="1"/>
          </p:cNvPicPr>
          <p:nvPr/>
        </p:nvPicPr>
        <p:blipFill>
          <a:blip r:embed="rId4">
            <a:alphaModFix amt="94000"/>
          </a:blip>
          <a:stretch>
            <a:fillRect/>
          </a:stretch>
        </p:blipFill>
        <p:spPr>
          <a:xfrm>
            <a:off x="10561320" y="36576"/>
            <a:ext cx="1024128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356848" y="6272784"/>
            <a:ext cx="347472" cy="347472"/>
          </a:xfrm>
          <a:prstGeom prst="ellipse">
            <a:avLst/>
          </a:prstGeom>
          <a:solidFill>
            <a:srgbClr val="29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356848" y="6332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8368" y="5120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Team: Coding Farmers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" y="941832"/>
            <a:ext cx="1828800" cy="0"/>
          </a:xfrm>
          <a:prstGeom prst="line">
            <a:avLst/>
          </a:prstGeom>
          <a:noFill/>
          <a:ln w="12700">
            <a:solidFill>
              <a:srgbClr val="8DB17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34840" y="1417320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3E7A46"/>
          </a:solidFill>
          <a:ln w="12700">
            <a:solidFill>
              <a:srgbClr val="3E7A4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34840" y="14584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Coding Farmers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1005840" y="2057400"/>
            <a:ext cx="1051560" cy="1051560"/>
          </a:xfrm>
          <a:prstGeom prst="ellipse">
            <a:avLst/>
          </a:prstGeom>
          <a:solidFill>
            <a:srgbClr val="F6FBF2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5840" y="2167128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👤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914400" y="32461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Tamang Sonam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1527048" y="3840480"/>
            <a:ext cx="0" cy="457200"/>
          </a:xfrm>
          <a:prstGeom prst="line">
            <a:avLst/>
          </a:prstGeom>
          <a:noFill/>
          <a:ln w="12700">
            <a:solidFill>
              <a:srgbClr val="B7CCA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00400" y="2057400"/>
            <a:ext cx="1051560" cy="1051560"/>
          </a:xfrm>
          <a:prstGeom prst="ellipse">
            <a:avLst/>
          </a:prstGeom>
          <a:solidFill>
            <a:srgbClr val="F6FBF2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00400" y="2167128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👤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108960" y="32461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Tamang Rupesh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3721608" y="3840480"/>
            <a:ext cx="0" cy="457200"/>
          </a:xfrm>
          <a:prstGeom prst="line">
            <a:avLst/>
          </a:prstGeom>
          <a:noFill/>
          <a:ln w="12700">
            <a:solidFill>
              <a:srgbClr val="B7CCA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4960" y="2057400"/>
            <a:ext cx="1051560" cy="1051560"/>
          </a:xfrm>
          <a:prstGeom prst="ellipse">
            <a:avLst/>
          </a:prstGeom>
          <a:solidFill>
            <a:srgbClr val="F6FBF2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94960" y="2167128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👤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5303520" y="32461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Shrestha Chiranjibi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5916168" y="3840480"/>
            <a:ext cx="0" cy="457200"/>
          </a:xfrm>
          <a:prstGeom prst="line">
            <a:avLst/>
          </a:prstGeom>
          <a:noFill/>
          <a:ln w="12700">
            <a:solidFill>
              <a:srgbClr val="B7CCA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589520" y="2057400"/>
            <a:ext cx="1051560" cy="1051560"/>
          </a:xfrm>
          <a:prstGeom prst="ellipse">
            <a:avLst/>
          </a:prstGeom>
          <a:solidFill>
            <a:srgbClr val="F6FBF2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89520" y="2167128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👤</a:t>
            </a:r>
            <a:endParaRPr lang="en-US" sz="2600" dirty="0"/>
          </a:p>
        </p:txBody>
      </p:sp>
      <p:sp>
        <p:nvSpPr>
          <p:cNvPr id="26" name="Text 22"/>
          <p:cNvSpPr/>
          <p:nvPr/>
        </p:nvSpPr>
        <p:spPr>
          <a:xfrm>
            <a:off x="7498080" y="32461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Subedi Yubaraj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8110728" y="3840480"/>
            <a:ext cx="0" cy="457200"/>
          </a:xfrm>
          <a:prstGeom prst="line">
            <a:avLst/>
          </a:prstGeom>
          <a:noFill/>
          <a:ln w="12700">
            <a:solidFill>
              <a:srgbClr val="B7CCA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784080" y="2057400"/>
            <a:ext cx="1051560" cy="1051560"/>
          </a:xfrm>
          <a:prstGeom prst="ellipse">
            <a:avLst/>
          </a:prstGeom>
          <a:solidFill>
            <a:srgbClr val="F6FBF2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784080" y="2167128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👤</a:t>
            </a:r>
            <a:endParaRPr lang="en-US" sz="2600" dirty="0"/>
          </a:p>
        </p:txBody>
      </p:sp>
      <p:sp>
        <p:nvSpPr>
          <p:cNvPr id="30" name="Text 26"/>
          <p:cNvSpPr/>
          <p:nvPr/>
        </p:nvSpPr>
        <p:spPr>
          <a:xfrm>
            <a:off x="9692640" y="32461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Subedi Tulsiram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10305288" y="3840480"/>
            <a:ext cx="0" cy="457200"/>
          </a:xfrm>
          <a:prstGeom prst="line">
            <a:avLst/>
          </a:prstGeom>
          <a:noFill/>
          <a:ln w="12700">
            <a:solidFill>
              <a:srgbClr val="B7CCA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32688" y="4526280"/>
            <a:ext cx="1031443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AE6D5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1234440" y="4727448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compact, hands-on team focused on building a practical product experience before scaling the platform functionality.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34" name="AnimeFarmerIcon3" descr="Small animated cartoon anime farmer icon, waving and holding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91440"/>
            <a:ext cx="960120" cy="85202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705275E-5F5E-73CB-DB9F-6220914AF4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4814" y="5948172"/>
            <a:ext cx="1001268" cy="100126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DE8D2"/>
          </a:solidFill>
          <a:ln w="12700">
            <a:solidFill>
              <a:srgbClr val="DDE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365760" y="5394960"/>
            <a:ext cx="12984480" cy="1645920"/>
          </a:xfrm>
          <a:prstGeom prst="arc">
            <a:avLst/>
          </a:prstGeom>
          <a:solidFill>
            <a:srgbClr val="C7DDB9"/>
          </a:solidFill>
          <a:ln w="12700">
            <a:solidFill>
              <a:srgbClr val="C7DDB9"/>
            </a:solidFill>
            <a:prstDash val="solid"/>
          </a:ln>
        </p:spPr>
      </p:sp>
      <p:pic>
        <p:nvPicPr>
          <p:cNvPr id="4" name="Image 0" descr="/mnt/data/sky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170432"/>
          </a:xfrm>
          <a:prstGeom prst="rect">
            <a:avLst/>
          </a:prstGeom>
        </p:spPr>
      </p:pic>
      <p:pic>
        <p:nvPicPr>
          <p:cNvPr id="5" name="Image 1" descr="/mnt/data/sun_glow.gif"/>
          <p:cNvPicPr>
            <a:picLocks noChangeAspect="1"/>
          </p:cNvPicPr>
          <p:nvPr/>
        </p:nvPicPr>
        <p:blipFill>
          <a:blip r:embed="rId4">
            <a:alphaModFix amt="94000"/>
          </a:blip>
          <a:stretch>
            <a:fillRect/>
          </a:stretch>
        </p:blipFill>
        <p:spPr>
          <a:xfrm>
            <a:off x="10561320" y="36576"/>
            <a:ext cx="1024128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356848" y="6272784"/>
            <a:ext cx="347472" cy="347472"/>
          </a:xfrm>
          <a:prstGeom prst="ellipse">
            <a:avLst/>
          </a:prstGeom>
          <a:solidFill>
            <a:srgbClr val="29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356848" y="6332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8368" y="5120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Targeted Users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" y="941832"/>
            <a:ext cx="1828800" cy="0"/>
          </a:xfrm>
          <a:prstGeom prst="line">
            <a:avLst/>
          </a:prstGeom>
          <a:noFill/>
          <a:ln w="12700">
            <a:solidFill>
              <a:srgbClr val="8DB17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8368" y="1572768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F6FAF2"/>
          </a:solidFill>
          <a:ln w="12700">
            <a:solidFill>
              <a:srgbClr val="D8E3D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14400" y="1920240"/>
            <a:ext cx="868680" cy="868680"/>
          </a:xfrm>
          <a:prstGeom prst="ellipse">
            <a:avLst/>
          </a:prstGeom>
          <a:solidFill>
            <a:srgbClr val="EAF4E0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2029968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👨‍🌾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828800" y="19019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Farmers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1828800" y="233172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put up their produce for sale and showcase profiles with details of their farm and farming methods.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236208" y="1572768"/>
            <a:ext cx="5303520" cy="3611880"/>
          </a:xfrm>
          <a:prstGeom prst="roundRect">
            <a:avLst>
              <a:gd name="adj" fmla="val 2025"/>
            </a:avLst>
          </a:prstGeom>
          <a:solidFill>
            <a:srgbClr val="F2F8FC"/>
          </a:solidFill>
          <a:ln w="12700">
            <a:solidFill>
              <a:srgbClr val="D5E4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1920240"/>
            <a:ext cx="868680" cy="868680"/>
          </a:xfrm>
          <a:prstGeom prst="ellipse">
            <a:avLst/>
          </a:prstGeom>
          <a:solidFill>
            <a:srgbClr val="E8F4FB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73952" y="2029968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7C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388352" y="190195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7CB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Consumers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7388352" y="2331720"/>
            <a:ext cx="3584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Consumers browse products, discover farmers, and review farmer profile details before buying.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364992" y="5458968"/>
            <a:ext cx="5449824" cy="676656"/>
          </a:xfrm>
          <a:prstGeom prst="roundRect">
            <a:avLst>
              <a:gd name="adj" fmla="val 1081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E4D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3529584" y="551383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7AA0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3840480" y="5623560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audiences. One trusted marketplace.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AnimeFarmerIcon4" descr="Small animated cartoon anime farmer icon, waving and holding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91440"/>
            <a:ext cx="960120" cy="8520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F1FAEA8-721E-9D0D-5BC5-1A3B296A51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6595" y="5888736"/>
            <a:ext cx="1115568" cy="111556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DE8D2"/>
          </a:solidFill>
          <a:ln w="12700">
            <a:solidFill>
              <a:srgbClr val="DDE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365760" y="5394960"/>
            <a:ext cx="12984480" cy="1645920"/>
          </a:xfrm>
          <a:prstGeom prst="arc">
            <a:avLst/>
          </a:prstGeom>
          <a:solidFill>
            <a:srgbClr val="C7DDB9"/>
          </a:solidFill>
          <a:ln w="12700">
            <a:solidFill>
              <a:srgbClr val="C7DDB9"/>
            </a:solidFill>
            <a:prstDash val="solid"/>
          </a:ln>
        </p:spPr>
      </p:sp>
      <p:pic>
        <p:nvPicPr>
          <p:cNvPr id="4" name="Image 0" descr="/mnt/data/sky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170432"/>
          </a:xfrm>
          <a:prstGeom prst="rect">
            <a:avLst/>
          </a:prstGeom>
        </p:spPr>
      </p:pic>
      <p:pic>
        <p:nvPicPr>
          <p:cNvPr id="5" name="Image 1" descr="/mnt/data/sun_glow.gif"/>
          <p:cNvPicPr>
            <a:picLocks noChangeAspect="1"/>
          </p:cNvPicPr>
          <p:nvPr/>
        </p:nvPicPr>
        <p:blipFill>
          <a:blip r:embed="rId4">
            <a:alphaModFix amt="94000"/>
          </a:blip>
          <a:stretch>
            <a:fillRect/>
          </a:stretch>
        </p:blipFill>
        <p:spPr>
          <a:xfrm>
            <a:off x="10561320" y="36576"/>
            <a:ext cx="1024128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356848" y="6272784"/>
            <a:ext cx="347472" cy="347472"/>
          </a:xfrm>
          <a:prstGeom prst="ellipse">
            <a:avLst/>
          </a:prstGeom>
          <a:solidFill>
            <a:srgbClr val="29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356848" y="6332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8368" y="5120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Problems (to tackle)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" y="941832"/>
            <a:ext cx="1828800" cy="0"/>
          </a:xfrm>
          <a:prstGeom prst="line">
            <a:avLst/>
          </a:prstGeom>
          <a:noFill/>
          <a:ln w="12700">
            <a:solidFill>
              <a:srgbClr val="8DB17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8368" y="10241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issues in local agricultural trade that led to the idea.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58368" y="1600200"/>
            <a:ext cx="7406640" cy="4206240"/>
          </a:xfrm>
          <a:prstGeom prst="roundRect">
            <a:avLst>
              <a:gd name="adj" fmla="val 1739"/>
            </a:avLst>
          </a:prstGeom>
          <a:solidFill>
            <a:srgbClr val="FEFCF8">
              <a:alpha val="97000"/>
            </a:srgbClr>
          </a:solidFill>
          <a:ln w="12700">
            <a:solidFill>
              <a:srgbClr val="D8E4D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14400" y="2011680"/>
            <a:ext cx="713232" cy="713232"/>
          </a:xfrm>
          <a:prstGeom prst="ellipse">
            <a:avLst/>
          </a:prstGeom>
          <a:solidFill>
            <a:srgbClr val="F8E6DB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212140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57F3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792224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57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having to rely on intermediaries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792224" y="23317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farmers depend on intermediaries to bring produce to market, their profit margin is reduced.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932688" y="3081528"/>
            <a:ext cx="6355080" cy="0"/>
          </a:xfrm>
          <a:prstGeom prst="line">
            <a:avLst/>
          </a:prstGeom>
          <a:noFill/>
          <a:ln w="12700">
            <a:solidFill>
              <a:srgbClr val="E0DDD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14400" y="3401568"/>
            <a:ext cx="713232" cy="713232"/>
          </a:xfrm>
          <a:prstGeom prst="ellipse">
            <a:avLst/>
          </a:prstGeom>
          <a:solidFill>
            <a:srgbClr val="E8F0DE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4400" y="3511296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7A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792224" y="33649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confusion about local farmers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1792224" y="373075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Consumers often do not know where to find local farmers directly, so fresh local options are missed.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8339328" y="1810512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E6F0DD"/>
          </a:solidFill>
          <a:ln w="12700">
            <a:solidFill>
              <a:srgbClr val="D0E0C8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482328" y="2267712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482328" y="237744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🌱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8796528" y="38039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 is …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732520" y="407822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Farmers Hub</a:t>
            </a:r>
            <a:endParaRPr lang="en-US" sz="2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AnimeFarmerIcon5" descr="Small animated cartoon anime farmer icon, waving and holding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91440"/>
            <a:ext cx="960120" cy="8520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E0F67A0-5D29-2595-ECA0-43956A2B8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7553" y="1655064"/>
            <a:ext cx="2651759" cy="2651759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DE8D2"/>
          </a:solidFill>
          <a:ln w="12700">
            <a:solidFill>
              <a:srgbClr val="DDE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365760" y="5394960"/>
            <a:ext cx="12984480" cy="1645920"/>
          </a:xfrm>
          <a:prstGeom prst="arc">
            <a:avLst/>
          </a:prstGeom>
          <a:solidFill>
            <a:srgbClr val="C7DDB9"/>
          </a:solidFill>
          <a:ln w="12700">
            <a:solidFill>
              <a:srgbClr val="C7DDB9"/>
            </a:solidFill>
            <a:prstDash val="solid"/>
          </a:ln>
        </p:spPr>
      </p:sp>
      <p:pic>
        <p:nvPicPr>
          <p:cNvPr id="4" name="Image 0" descr="/mnt/data/sky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170432"/>
          </a:xfrm>
          <a:prstGeom prst="rect">
            <a:avLst/>
          </a:prstGeom>
        </p:spPr>
      </p:pic>
      <p:pic>
        <p:nvPicPr>
          <p:cNvPr id="5" name="Image 1" descr="/mnt/data/sun_glow.gif"/>
          <p:cNvPicPr>
            <a:picLocks noChangeAspect="1"/>
          </p:cNvPicPr>
          <p:nvPr/>
        </p:nvPicPr>
        <p:blipFill>
          <a:blip r:embed="rId4">
            <a:alphaModFix amt="94000"/>
          </a:blip>
          <a:stretch>
            <a:fillRect/>
          </a:stretch>
        </p:blipFill>
        <p:spPr>
          <a:xfrm>
            <a:off x="10561320" y="36576"/>
            <a:ext cx="1024128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356848" y="6272784"/>
            <a:ext cx="347472" cy="347472"/>
          </a:xfrm>
          <a:prstGeom prst="ellipse">
            <a:avLst/>
          </a:prstGeom>
          <a:solidFill>
            <a:srgbClr val="29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356848" y="6332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8368" y="5120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Farmers Hub?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" y="941832"/>
            <a:ext cx="1828800" cy="0"/>
          </a:xfrm>
          <a:prstGeom prst="line">
            <a:avLst/>
          </a:prstGeom>
          <a:noFill/>
          <a:ln w="12700">
            <a:solidFill>
              <a:srgbClr val="8DB17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1417320"/>
            <a:ext cx="4526280" cy="256032"/>
          </a:xfrm>
          <a:prstGeom prst="roundRect">
            <a:avLst>
              <a:gd name="adj" fmla="val 28571"/>
            </a:avLst>
          </a:prstGeom>
          <a:solidFill>
            <a:srgbClr val="3E7A46"/>
          </a:solidFill>
          <a:ln w="12700">
            <a:solidFill>
              <a:srgbClr val="3E7A4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145846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 we provide? It’s simple: we reduce friction.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58368" y="1828800"/>
            <a:ext cx="6903720" cy="4005072"/>
          </a:xfrm>
          <a:prstGeom prst="roundRect">
            <a:avLst>
              <a:gd name="adj" fmla="val 1826"/>
            </a:avLst>
          </a:prstGeom>
          <a:solidFill>
            <a:srgbClr val="FEFCF8">
              <a:alpha val="97000"/>
            </a:srgbClr>
          </a:solidFill>
          <a:ln w="12700">
            <a:solidFill>
              <a:srgbClr val="D8E4D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14400" y="202996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make it easier for farmers to sell and for consumers to find local products.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914400" y="2523744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295C38"/>
          </a:solidFill>
          <a:ln w="12700">
            <a:solidFill>
              <a:srgbClr val="295C3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" y="25648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FarmersHub delivers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914400" y="294436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 farmer-to-consumer connection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932688" y="33832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133856" y="3401568"/>
            <a:ext cx="6016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Brings farmers and consumers onto the same online platform.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932688" y="389534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1133856" y="3913632"/>
            <a:ext cx="6016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create direct communication between both sides.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932688" y="440740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1133856" y="4425696"/>
            <a:ext cx="6016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can sell without an intermediary.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932688" y="49194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1133856" y="4937760"/>
            <a:ext cx="6016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Consumers can access fresh and locally produced items online.</a:t>
            </a:r>
            <a:endParaRPr lang="en-US" sz="1550" dirty="0"/>
          </a:p>
        </p:txBody>
      </p:sp>
      <p:sp>
        <p:nvSpPr>
          <p:cNvPr id="25" name="Shape 21"/>
          <p:cNvSpPr/>
          <p:nvPr/>
        </p:nvSpPr>
        <p:spPr>
          <a:xfrm>
            <a:off x="7818120" y="1664208"/>
            <a:ext cx="3456432" cy="4315968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9E6D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006840" y="2029968"/>
            <a:ext cx="1005840" cy="1005840"/>
          </a:xfrm>
          <a:prstGeom prst="ellipse">
            <a:avLst/>
          </a:prstGeom>
          <a:solidFill>
            <a:srgbClr val="F2F8ED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006840" y="2139696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🤝</a:t>
            </a:r>
            <a:endParaRPr lang="en-US" sz="2400" dirty="0"/>
          </a:p>
        </p:txBody>
      </p:sp>
      <p:sp>
        <p:nvSpPr>
          <p:cNvPr id="28" name="Shape 24"/>
          <p:cNvSpPr/>
          <p:nvPr/>
        </p:nvSpPr>
        <p:spPr>
          <a:xfrm>
            <a:off x="9006840" y="3218688"/>
            <a:ext cx="1005840" cy="1005840"/>
          </a:xfrm>
          <a:prstGeom prst="ellipse">
            <a:avLst/>
          </a:prstGeom>
          <a:solidFill>
            <a:srgbClr val="F2F8ED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06840" y="3328416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🧺</a:t>
            </a:r>
            <a:endParaRPr lang="en-US" sz="2400" dirty="0"/>
          </a:p>
        </p:txBody>
      </p:sp>
      <p:sp>
        <p:nvSpPr>
          <p:cNvPr id="30" name="Shape 26"/>
          <p:cNvSpPr/>
          <p:nvPr/>
        </p:nvSpPr>
        <p:spPr>
          <a:xfrm>
            <a:off x="9006840" y="4407408"/>
            <a:ext cx="1005840" cy="1005840"/>
          </a:xfrm>
          <a:prstGeom prst="ellipse">
            <a:avLst/>
          </a:prstGeom>
          <a:solidFill>
            <a:srgbClr val="F2F8ED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006840" y="4517136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📍</a:t>
            </a:r>
            <a:endParaRPr lang="en-US" sz="2400" dirty="0"/>
          </a:p>
        </p:txBody>
      </p:sp>
      <p:sp>
        <p:nvSpPr>
          <p:cNvPr id="32" name="Text 28"/>
          <p:cNvSpPr/>
          <p:nvPr/>
        </p:nvSpPr>
        <p:spPr>
          <a:xfrm>
            <a:off x="9985248" y="23134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trust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9985248" y="35021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produce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9985248" y="469087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discovery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5" name="AnimeFarmerIcon6" descr="Small animated cartoon anime farmer icon, waving and holding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91440"/>
            <a:ext cx="960120" cy="8520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DE8D2"/>
          </a:solidFill>
          <a:ln w="12700">
            <a:solidFill>
              <a:srgbClr val="DDE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365760" y="5394960"/>
            <a:ext cx="12984480" cy="1645920"/>
          </a:xfrm>
          <a:prstGeom prst="arc">
            <a:avLst/>
          </a:prstGeom>
          <a:solidFill>
            <a:srgbClr val="C7DDB9"/>
          </a:solidFill>
          <a:ln w="12700">
            <a:solidFill>
              <a:srgbClr val="C7DDB9"/>
            </a:solidFill>
            <a:prstDash val="solid"/>
          </a:ln>
        </p:spPr>
      </p:sp>
      <p:pic>
        <p:nvPicPr>
          <p:cNvPr id="4" name="Image 0" descr="/mnt/data/sky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170432"/>
          </a:xfrm>
          <a:prstGeom prst="rect">
            <a:avLst/>
          </a:prstGeom>
        </p:spPr>
      </p:pic>
      <p:pic>
        <p:nvPicPr>
          <p:cNvPr id="5" name="Image 1" descr="/mnt/data/sun_glow.gif"/>
          <p:cNvPicPr>
            <a:picLocks noChangeAspect="1"/>
          </p:cNvPicPr>
          <p:nvPr/>
        </p:nvPicPr>
        <p:blipFill>
          <a:blip r:embed="rId4">
            <a:alphaModFix amt="94000"/>
          </a:blip>
          <a:stretch>
            <a:fillRect/>
          </a:stretch>
        </p:blipFill>
        <p:spPr>
          <a:xfrm>
            <a:off x="10561320" y="36576"/>
            <a:ext cx="1024128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356848" y="6272784"/>
            <a:ext cx="347472" cy="347472"/>
          </a:xfrm>
          <a:prstGeom prst="ellipse">
            <a:avLst/>
          </a:prstGeom>
          <a:solidFill>
            <a:srgbClr val="29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356848" y="6332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8368" y="5120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have we built so far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" y="941832"/>
            <a:ext cx="1828800" cy="0"/>
          </a:xfrm>
          <a:prstGeom prst="line">
            <a:avLst/>
          </a:prstGeom>
          <a:noFill/>
          <a:ln w="12700">
            <a:solidFill>
              <a:srgbClr val="8DB17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8368" y="1591056"/>
            <a:ext cx="5193792" cy="4315968"/>
          </a:xfrm>
          <a:prstGeom prst="roundRect">
            <a:avLst>
              <a:gd name="adj" fmla="val 1695"/>
            </a:avLst>
          </a:prstGeom>
          <a:solidFill>
            <a:srgbClr val="FEFCF8">
              <a:alpha val="97000"/>
            </a:srgbClr>
          </a:solidFill>
          <a:ln w="12700">
            <a:solidFill>
              <a:srgbClr val="D8E4D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96112" y="1847088"/>
            <a:ext cx="46451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8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focused on building the core interface first, which is what users see and interact with when they enter the platform.</a:t>
            </a:r>
            <a:endParaRPr lang="en-US" sz="1580" dirty="0"/>
          </a:p>
        </p:txBody>
      </p:sp>
      <p:sp>
        <p:nvSpPr>
          <p:cNvPr id="12" name="Shape 8"/>
          <p:cNvSpPr/>
          <p:nvPr/>
        </p:nvSpPr>
        <p:spPr>
          <a:xfrm>
            <a:off x="896112" y="2697480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3E7A46"/>
          </a:solidFill>
          <a:ln w="12700">
            <a:solidFill>
              <a:srgbClr val="3E7A4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96112" y="2738628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features so far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896112" y="31181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097280" y="3136392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 layout</a:t>
            </a:r>
            <a:endParaRPr lang="en-US" sz="1530" dirty="0"/>
          </a:p>
        </p:txBody>
      </p:sp>
      <p:sp>
        <p:nvSpPr>
          <p:cNvPr id="16" name="Text 12"/>
          <p:cNvSpPr/>
          <p:nvPr/>
        </p:nvSpPr>
        <p:spPr>
          <a:xfrm>
            <a:off x="896112" y="360273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097280" y="3621024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browsing grid</a:t>
            </a:r>
            <a:endParaRPr lang="en-US" sz="1530" dirty="0"/>
          </a:p>
        </p:txBody>
      </p:sp>
      <p:sp>
        <p:nvSpPr>
          <p:cNvPr id="18" name="Text 14"/>
          <p:cNvSpPr/>
          <p:nvPr/>
        </p:nvSpPr>
        <p:spPr>
          <a:xfrm>
            <a:off x="896112" y="408736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097280" y="4105656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system: Profile, Messages, Notifications</a:t>
            </a:r>
            <a:endParaRPr lang="en-US" sz="1530" dirty="0"/>
          </a:p>
        </p:txBody>
      </p:sp>
      <p:sp>
        <p:nvSpPr>
          <p:cNvPr id="20" name="Text 16"/>
          <p:cNvSpPr/>
          <p:nvPr/>
        </p:nvSpPr>
        <p:spPr>
          <a:xfrm>
            <a:off x="896112" y="457200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097280" y="4590288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bar at the UI level</a:t>
            </a:r>
            <a:endParaRPr lang="en-US" sz="1530" dirty="0"/>
          </a:p>
        </p:txBody>
      </p:sp>
      <p:sp>
        <p:nvSpPr>
          <p:cNvPr id="22" name="Text 18"/>
          <p:cNvSpPr/>
          <p:nvPr/>
        </p:nvSpPr>
        <p:spPr>
          <a:xfrm>
            <a:off x="896112" y="505663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097280" y="507492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UI elements and animations</a:t>
            </a:r>
            <a:endParaRPr lang="en-US" sz="1530" dirty="0"/>
          </a:p>
        </p:txBody>
      </p:sp>
      <p:sp>
        <p:nvSpPr>
          <p:cNvPr id="24" name="Shape 20"/>
          <p:cNvSpPr/>
          <p:nvPr/>
        </p:nvSpPr>
        <p:spPr>
          <a:xfrm>
            <a:off x="6199632" y="1591056"/>
            <a:ext cx="5303520" cy="4315968"/>
          </a:xfrm>
          <a:prstGeom prst="roundRect">
            <a:avLst>
              <a:gd name="adj" fmla="val 1695"/>
            </a:avLst>
          </a:prstGeom>
          <a:solidFill>
            <a:srgbClr val="EEF5E8"/>
          </a:solidFill>
          <a:ln w="12700">
            <a:solidFill>
              <a:srgbClr val="D7E4D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83680" y="1993392"/>
            <a:ext cx="45262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C7D8BF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583680" y="1993392"/>
            <a:ext cx="4526280" cy="256032"/>
          </a:xfrm>
          <a:prstGeom prst="rect">
            <a:avLst/>
          </a:prstGeom>
          <a:solidFill>
            <a:srgbClr val="295C38"/>
          </a:solidFill>
          <a:ln w="12700">
            <a:solidFill>
              <a:srgbClr val="295C3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876288" y="24048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Farmers Hub UI Prototype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876288" y="27889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DF5E6"/>
          </a:solidFill>
          <a:ln w="12700">
            <a:solidFill>
              <a:srgbClr val="D5E4C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924544" y="2788920"/>
            <a:ext cx="1792224" cy="658368"/>
          </a:xfrm>
          <a:prstGeom prst="roundRect">
            <a:avLst>
              <a:gd name="adj" fmla="val 11111"/>
            </a:avLst>
          </a:prstGeom>
          <a:solidFill>
            <a:srgbClr val="F2F8FC"/>
          </a:solidFill>
          <a:ln w="12700">
            <a:solidFill>
              <a:srgbClr val="D5E4E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876288" y="3675888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FF8EF"/>
          </a:solidFill>
          <a:ln w="12700">
            <a:solidFill>
              <a:srgbClr val="E9DEC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022592" y="29077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from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9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Farmers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9144000" y="299008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7C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 nearby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7132320" y="387705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57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grid and listings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4" name="AnimeFarmerIcon7" descr="Small animated cartoon anime farmer icon, waving and holding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91440"/>
            <a:ext cx="960120" cy="8520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DE8D2"/>
          </a:solidFill>
          <a:ln w="12700">
            <a:solidFill>
              <a:srgbClr val="DDE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365760" y="5394960"/>
            <a:ext cx="12984480" cy="1645920"/>
          </a:xfrm>
          <a:prstGeom prst="arc">
            <a:avLst/>
          </a:prstGeom>
          <a:solidFill>
            <a:srgbClr val="C7DDB9"/>
          </a:solidFill>
          <a:ln w="12700">
            <a:solidFill>
              <a:srgbClr val="C7DDB9"/>
            </a:solidFill>
            <a:prstDash val="solid"/>
          </a:ln>
        </p:spPr>
      </p:sp>
      <p:pic>
        <p:nvPicPr>
          <p:cNvPr id="4" name="Image 0" descr="/mnt/data/sky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170432"/>
          </a:xfrm>
          <a:prstGeom prst="rect">
            <a:avLst/>
          </a:prstGeom>
        </p:spPr>
      </p:pic>
      <p:pic>
        <p:nvPicPr>
          <p:cNvPr id="5" name="Image 1" descr="/mnt/data/sun_glow.gif"/>
          <p:cNvPicPr>
            <a:picLocks noChangeAspect="1"/>
          </p:cNvPicPr>
          <p:nvPr/>
        </p:nvPicPr>
        <p:blipFill>
          <a:blip r:embed="rId4">
            <a:alphaModFix amt="94000"/>
          </a:blip>
          <a:stretch>
            <a:fillRect/>
          </a:stretch>
        </p:blipFill>
        <p:spPr>
          <a:xfrm>
            <a:off x="10561320" y="36576"/>
            <a:ext cx="1024128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356848" y="6272784"/>
            <a:ext cx="347472" cy="347472"/>
          </a:xfrm>
          <a:prstGeom prst="ellipse">
            <a:avLst/>
          </a:prstGeom>
          <a:solidFill>
            <a:srgbClr val="29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356848" y="6332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8368" y="5120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" y="941832"/>
            <a:ext cx="1828800" cy="0"/>
          </a:xfrm>
          <a:prstGeom prst="line">
            <a:avLst/>
          </a:prstGeom>
          <a:noFill/>
          <a:ln w="12700">
            <a:solidFill>
              <a:srgbClr val="8DB17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8368" y="1536192"/>
            <a:ext cx="4754880" cy="4434840"/>
          </a:xfrm>
          <a:prstGeom prst="roundRect">
            <a:avLst>
              <a:gd name="adj" fmla="val 1649"/>
            </a:avLst>
          </a:prstGeom>
          <a:solidFill>
            <a:srgbClr val="FEFCF8">
              <a:alpha val="97000"/>
            </a:srgbClr>
          </a:solidFill>
          <a:ln w="12700">
            <a:solidFill>
              <a:srgbClr val="D8E4D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96112" y="1828800"/>
            <a:ext cx="4315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demo, we focus on one flow: how a user explores farmers, browses products, and reaches the login / signup page.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896112" y="2633472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3E7A46"/>
          </a:solidFill>
          <a:ln w="12700">
            <a:solidFill>
              <a:srgbClr val="3E7A4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96112" y="26746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Flow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932688" y="3035808"/>
            <a:ext cx="310896" cy="310896"/>
          </a:xfrm>
          <a:prstGeom prst="ellipse">
            <a:avLst/>
          </a:prstGeom>
          <a:solidFill>
            <a:srgbClr val="EAF3E4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32688" y="314553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353312" y="3081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homepage</a:t>
            </a:r>
            <a:endParaRPr lang="en-US" sz="1520" dirty="0"/>
          </a:p>
        </p:txBody>
      </p:sp>
      <p:sp>
        <p:nvSpPr>
          <p:cNvPr id="17" name="Shape 13"/>
          <p:cNvSpPr/>
          <p:nvPr/>
        </p:nvSpPr>
        <p:spPr>
          <a:xfrm>
            <a:off x="932688" y="3566160"/>
            <a:ext cx="310896" cy="310896"/>
          </a:xfrm>
          <a:prstGeom prst="ellipse">
            <a:avLst/>
          </a:prstGeom>
          <a:solidFill>
            <a:srgbClr val="EAF3E4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32688" y="36758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353312" y="36118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farmers near you</a:t>
            </a:r>
            <a:endParaRPr lang="en-US" sz="1520" dirty="0"/>
          </a:p>
        </p:txBody>
      </p:sp>
      <p:sp>
        <p:nvSpPr>
          <p:cNvPr id="20" name="Shape 16"/>
          <p:cNvSpPr/>
          <p:nvPr/>
        </p:nvSpPr>
        <p:spPr>
          <a:xfrm>
            <a:off x="932688" y="4096512"/>
            <a:ext cx="310896" cy="310896"/>
          </a:xfrm>
          <a:prstGeom prst="ellipse">
            <a:avLst/>
          </a:prstGeom>
          <a:solidFill>
            <a:srgbClr val="EAF3E4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32688" y="42062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353312" y="4142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on a farmer profile</a:t>
            </a:r>
            <a:endParaRPr lang="en-US" sz="1520" dirty="0"/>
          </a:p>
        </p:txBody>
      </p:sp>
      <p:sp>
        <p:nvSpPr>
          <p:cNvPr id="23" name="Shape 19"/>
          <p:cNvSpPr/>
          <p:nvPr/>
        </p:nvSpPr>
        <p:spPr>
          <a:xfrm>
            <a:off x="932688" y="4626864"/>
            <a:ext cx="310896" cy="310896"/>
          </a:xfrm>
          <a:prstGeom prst="ellipse">
            <a:avLst/>
          </a:prstGeom>
          <a:solidFill>
            <a:srgbClr val="EAF3E4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32688" y="473659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353312" y="46725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products</a:t>
            </a:r>
            <a:endParaRPr lang="en-US" sz="1520" dirty="0"/>
          </a:p>
        </p:txBody>
      </p:sp>
      <p:sp>
        <p:nvSpPr>
          <p:cNvPr id="26" name="Shape 22"/>
          <p:cNvSpPr/>
          <p:nvPr/>
        </p:nvSpPr>
        <p:spPr>
          <a:xfrm>
            <a:off x="932688" y="5157216"/>
            <a:ext cx="310896" cy="310896"/>
          </a:xfrm>
          <a:prstGeom prst="ellipse">
            <a:avLst/>
          </a:prstGeom>
          <a:solidFill>
            <a:srgbClr val="EAF3E4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32688" y="52669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353312" y="52029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Login/signup </a:t>
            </a:r>
            <a:endParaRPr lang="en-US" sz="1520" dirty="0"/>
          </a:p>
        </p:txBody>
      </p:sp>
      <p:sp>
        <p:nvSpPr>
          <p:cNvPr id="29" name="Shape 25"/>
          <p:cNvSpPr/>
          <p:nvPr/>
        </p:nvSpPr>
        <p:spPr>
          <a:xfrm>
            <a:off x="5806440" y="1536192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7FBF4"/>
          </a:solidFill>
          <a:ln w="12700">
            <a:solidFill>
              <a:srgbClr val="D7E4D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995160" y="4590288"/>
            <a:ext cx="274320" cy="0"/>
          </a:xfrm>
          <a:prstGeom prst="line">
            <a:avLst/>
          </a:prstGeom>
          <a:noFill/>
          <a:ln w="12700">
            <a:solidFill>
              <a:srgbClr val="A8BE9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092440" y="4041648"/>
            <a:ext cx="274320" cy="548640"/>
          </a:xfrm>
          <a:prstGeom prst="line">
            <a:avLst/>
          </a:prstGeom>
          <a:noFill/>
          <a:ln w="12700">
            <a:solidFill>
              <a:srgbClr val="A8BE9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189720" y="4590288"/>
            <a:ext cx="274320" cy="0"/>
          </a:xfrm>
          <a:prstGeom prst="line">
            <a:avLst/>
          </a:prstGeom>
          <a:noFill/>
          <a:ln w="12700">
            <a:solidFill>
              <a:srgbClr val="A8BE9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0287000" y="4041648"/>
            <a:ext cx="228600" cy="548640"/>
          </a:xfrm>
          <a:prstGeom prst="line">
            <a:avLst/>
          </a:prstGeom>
          <a:noFill/>
          <a:ln w="12700">
            <a:solidFill>
              <a:srgbClr val="A8BE9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583680" y="438912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83680" y="44988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⌂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7680960" y="384048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680960" y="395020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👨‍🌾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8778240" y="438912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778240" y="44988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👤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9875520" y="384048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9875520" y="395020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10927080" y="438912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0927080" y="44988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🔐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6355080" y="498348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</a:t>
            </a:r>
            <a:endParaRPr lang="en-US" sz="1150" dirty="0"/>
          </a:p>
        </p:txBody>
      </p:sp>
      <p:sp>
        <p:nvSpPr>
          <p:cNvPr id="45" name="Text 41"/>
          <p:cNvSpPr/>
          <p:nvPr/>
        </p:nvSpPr>
        <p:spPr>
          <a:xfrm>
            <a:off x="7498080" y="34564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Nearby</a:t>
            </a:r>
            <a:endParaRPr lang="en-US" sz="1150" dirty="0"/>
          </a:p>
        </p:txBody>
      </p:sp>
      <p:sp>
        <p:nvSpPr>
          <p:cNvPr id="46" name="Text 42"/>
          <p:cNvSpPr/>
          <p:nvPr/>
        </p:nvSpPr>
        <p:spPr>
          <a:xfrm>
            <a:off x="8595360" y="49834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9619488" y="345643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10835640" y="4983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1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9" name="AnimeFarmerIcon8" descr="Small animated cartoon anime farmer icon, waving and holding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91440"/>
            <a:ext cx="960120" cy="8520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DE8D2"/>
          </a:solidFill>
          <a:ln w="12700">
            <a:solidFill>
              <a:srgbClr val="DDE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365760" y="5394960"/>
            <a:ext cx="12984480" cy="1645920"/>
          </a:xfrm>
          <a:prstGeom prst="arc">
            <a:avLst/>
          </a:prstGeom>
          <a:solidFill>
            <a:srgbClr val="C7DDB9"/>
          </a:solidFill>
          <a:ln w="12700">
            <a:solidFill>
              <a:srgbClr val="C7DDB9"/>
            </a:solidFill>
            <a:prstDash val="solid"/>
          </a:ln>
        </p:spPr>
      </p:sp>
      <p:pic>
        <p:nvPicPr>
          <p:cNvPr id="4" name="Image 0" descr="/mnt/data/sky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170432"/>
          </a:xfrm>
          <a:prstGeom prst="rect">
            <a:avLst/>
          </a:prstGeom>
        </p:spPr>
      </p:pic>
      <p:pic>
        <p:nvPicPr>
          <p:cNvPr id="5" name="Image 1" descr="/mnt/data/sun_glow.gif"/>
          <p:cNvPicPr>
            <a:picLocks noChangeAspect="1"/>
          </p:cNvPicPr>
          <p:nvPr/>
        </p:nvPicPr>
        <p:blipFill>
          <a:blip r:embed="rId4">
            <a:alphaModFix amt="94000"/>
          </a:blip>
          <a:stretch>
            <a:fillRect/>
          </a:stretch>
        </p:blipFill>
        <p:spPr>
          <a:xfrm>
            <a:off x="10561320" y="36576"/>
            <a:ext cx="1024128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356848" y="6272784"/>
            <a:ext cx="347472" cy="347472"/>
          </a:xfrm>
          <a:prstGeom prst="ellipse">
            <a:avLst/>
          </a:prstGeom>
          <a:solidFill>
            <a:srgbClr val="29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356848" y="6332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8368" y="5120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Proof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" y="941832"/>
            <a:ext cx="1828800" cy="0"/>
          </a:xfrm>
          <a:prstGeom prst="line">
            <a:avLst/>
          </a:prstGeom>
          <a:noFill/>
          <a:ln w="12700">
            <a:solidFill>
              <a:srgbClr val="8DB17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8368" y="1572768"/>
            <a:ext cx="5193792" cy="4718304"/>
          </a:xfrm>
          <a:prstGeom prst="roundRect">
            <a:avLst>
              <a:gd name="adj" fmla="val 1684"/>
            </a:avLst>
          </a:prstGeom>
          <a:solidFill>
            <a:srgbClr val="FEFCF8">
              <a:alpha val="97000"/>
            </a:srgbClr>
          </a:solidFill>
          <a:ln w="12700">
            <a:solidFill>
              <a:srgbClr val="D8E4D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96112" y="1828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working frontend prototype. Navigation and layout are functional, but backend features such as login and data storage are not yet implemented.</a:t>
            </a:r>
            <a:endParaRPr lang="en-US" sz="1530" dirty="0"/>
          </a:p>
        </p:txBody>
      </p:sp>
      <p:sp>
        <p:nvSpPr>
          <p:cNvPr id="12" name="Shape 8"/>
          <p:cNvSpPr/>
          <p:nvPr/>
        </p:nvSpPr>
        <p:spPr>
          <a:xfrm>
            <a:off x="896112" y="276148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3E7A46"/>
          </a:solidFill>
          <a:ln w="12700">
            <a:solidFill>
              <a:srgbClr val="3E7A4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96112" y="280263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currently working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896112" y="31546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097280" y="3172968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Clickable navigation between pages</a:t>
            </a:r>
            <a:endParaRPr lang="en-US" sz="1520" dirty="0"/>
          </a:p>
        </p:txBody>
      </p:sp>
      <p:sp>
        <p:nvSpPr>
          <p:cNvPr id="16" name="Text 12"/>
          <p:cNvSpPr/>
          <p:nvPr/>
        </p:nvSpPr>
        <p:spPr>
          <a:xfrm>
            <a:off x="896112" y="358444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097280" y="3602736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Scrollable farmer profiles</a:t>
            </a:r>
            <a:endParaRPr lang="en-US" sz="1520" dirty="0"/>
          </a:p>
        </p:txBody>
      </p:sp>
      <p:sp>
        <p:nvSpPr>
          <p:cNvPr id="18" name="Text 14"/>
          <p:cNvSpPr/>
          <p:nvPr/>
        </p:nvSpPr>
        <p:spPr>
          <a:xfrm>
            <a:off x="896112" y="40142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097280" y="4032504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display layout</a:t>
            </a:r>
            <a:endParaRPr lang="en-US" sz="1520" dirty="0"/>
          </a:p>
        </p:txBody>
      </p:sp>
      <p:sp>
        <p:nvSpPr>
          <p:cNvPr id="20" name="Text 16"/>
          <p:cNvSpPr/>
          <p:nvPr/>
        </p:nvSpPr>
        <p:spPr>
          <a:xfrm>
            <a:off x="896112" y="44439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097280" y="4462272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243227"/>
                </a:solidFill>
                <a:latin typeface="Aptos" pitchFamily="34" charset="0"/>
              </a:rPr>
              <a:t>Pipeline.md for better implementation</a:t>
            </a:r>
            <a:endParaRPr lang="en-US" sz="1520" dirty="0"/>
          </a:p>
        </p:txBody>
      </p:sp>
      <p:sp>
        <p:nvSpPr>
          <p:cNvPr id="22" name="Shape 18"/>
          <p:cNvSpPr/>
          <p:nvPr/>
        </p:nvSpPr>
        <p:spPr>
          <a:xfrm>
            <a:off x="896112" y="4846320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D57F39"/>
          </a:solidFill>
          <a:ln w="12700">
            <a:solidFill>
              <a:srgbClr val="D57F3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96112" y="48874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not implemented yet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896112" y="52120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5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1097280" y="523036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0" dirty="0">
                <a:solidFill>
                  <a:srgbClr val="243227"/>
                </a:solidFill>
                <a:latin typeface="Aptos" pitchFamily="34" charset="0"/>
              </a:rPr>
              <a:t>Robust Database</a:t>
            </a:r>
            <a:endParaRPr lang="en-US" sz="1510" dirty="0"/>
          </a:p>
        </p:txBody>
      </p:sp>
      <p:sp>
        <p:nvSpPr>
          <p:cNvPr id="26" name="Text 22"/>
          <p:cNvSpPr/>
          <p:nvPr/>
        </p:nvSpPr>
        <p:spPr>
          <a:xfrm>
            <a:off x="896112" y="56052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5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1097280" y="562356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0" dirty="0" err="1">
                <a:solidFill>
                  <a:srgbClr val="243227"/>
                </a:solidFill>
                <a:latin typeface="Aptos" pitchFamily="34" charset="0"/>
              </a:rPr>
              <a:t>Messasing</a:t>
            </a:r>
            <a:r>
              <a:rPr lang="en-US" sz="1510" dirty="0">
                <a:solidFill>
                  <a:srgbClr val="243227"/>
                </a:solidFill>
                <a:latin typeface="Aptos" pitchFamily="34" charset="0"/>
              </a:rPr>
              <a:t> feature</a:t>
            </a:r>
            <a:endParaRPr lang="en-US" sz="1510" dirty="0"/>
          </a:p>
        </p:txBody>
      </p:sp>
      <p:sp>
        <p:nvSpPr>
          <p:cNvPr id="28" name="Text 24"/>
          <p:cNvSpPr/>
          <p:nvPr/>
        </p:nvSpPr>
        <p:spPr>
          <a:xfrm>
            <a:off x="896112" y="599846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5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1097280" y="60167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0" dirty="0">
                <a:solidFill>
                  <a:srgbClr val="243227"/>
                </a:solidFill>
                <a:latin typeface="Aptos" pitchFamily="34" charset="0"/>
              </a:rPr>
              <a:t>User-friendly UI</a:t>
            </a:r>
            <a:endParaRPr lang="en-US" sz="1510" dirty="0"/>
          </a:p>
        </p:txBody>
      </p:sp>
      <p:sp>
        <p:nvSpPr>
          <p:cNvPr id="30" name="Shape 26"/>
          <p:cNvSpPr/>
          <p:nvPr/>
        </p:nvSpPr>
        <p:spPr>
          <a:xfrm>
            <a:off x="6053328" y="1572768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8E4D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537960" y="1828800"/>
            <a:ext cx="4206240" cy="2651760"/>
          </a:xfrm>
          <a:prstGeom prst="roundRect">
            <a:avLst>
              <a:gd name="adj" fmla="val 1724"/>
            </a:avLst>
          </a:prstGeom>
          <a:solidFill>
            <a:srgbClr val="F7F9F5"/>
          </a:solidFill>
          <a:ln w="12700">
            <a:solidFill>
              <a:srgbClr val="C7D8BF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537960" y="1828800"/>
            <a:ext cx="4206240" cy="237744"/>
          </a:xfrm>
          <a:prstGeom prst="rect">
            <a:avLst/>
          </a:prstGeom>
          <a:solidFill>
            <a:srgbClr val="295C38"/>
          </a:solidFill>
          <a:ln w="12700">
            <a:solidFill>
              <a:srgbClr val="295C3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876288" y="23408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Fresh. Local. Sustainable.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6903720" y="29992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AF3E3"/>
          </a:solidFill>
          <a:ln w="12700">
            <a:solidFill>
              <a:srgbClr val="D0E0C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095744" y="3099816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95C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farms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6876288" y="393192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5C6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status: visual flow validated</a:t>
            </a:r>
            <a:endParaRPr lang="en-US" sz="132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7" name="AnimeFarmerIcon9" descr="Small animated cartoon anime farmer icon, waving and holding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91440"/>
            <a:ext cx="960120" cy="8520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DE8D2"/>
          </a:solidFill>
          <a:ln w="12700">
            <a:solidFill>
              <a:srgbClr val="DDE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365760" y="5394960"/>
            <a:ext cx="12984480" cy="1645920"/>
          </a:xfrm>
          <a:prstGeom prst="arc">
            <a:avLst/>
          </a:prstGeom>
          <a:solidFill>
            <a:srgbClr val="C7DDB9"/>
          </a:solidFill>
          <a:ln w="12700">
            <a:solidFill>
              <a:srgbClr val="C7DDB9"/>
            </a:solidFill>
            <a:prstDash val="solid"/>
          </a:ln>
        </p:spPr>
      </p:sp>
      <p:pic>
        <p:nvPicPr>
          <p:cNvPr id="4" name="Image 0" descr="/mnt/data/sky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170432"/>
          </a:xfrm>
          <a:prstGeom prst="rect">
            <a:avLst/>
          </a:prstGeom>
        </p:spPr>
      </p:pic>
      <p:pic>
        <p:nvPicPr>
          <p:cNvPr id="5" name="Image 1" descr="/mnt/data/sun_glow.gif"/>
          <p:cNvPicPr>
            <a:picLocks noChangeAspect="1"/>
          </p:cNvPicPr>
          <p:nvPr/>
        </p:nvPicPr>
        <p:blipFill>
          <a:blip r:embed="rId4">
            <a:alphaModFix amt="94000"/>
          </a:blip>
          <a:stretch>
            <a:fillRect/>
          </a:stretch>
        </p:blipFill>
        <p:spPr>
          <a:xfrm>
            <a:off x="10561320" y="36576"/>
            <a:ext cx="1024128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356848" y="6272784"/>
            <a:ext cx="347472" cy="347472"/>
          </a:xfrm>
          <a:prstGeom prst="ellipse">
            <a:avLst/>
          </a:prstGeom>
          <a:solidFill>
            <a:srgbClr val="29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356848" y="6332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8368" y="5120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Roadmap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" y="941832"/>
            <a:ext cx="1828800" cy="0"/>
          </a:xfrm>
          <a:prstGeom prst="line">
            <a:avLst/>
          </a:prstGeom>
          <a:noFill/>
          <a:ln w="12700">
            <a:solidFill>
              <a:srgbClr val="8DB17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1755648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4D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773936" y="1444752"/>
            <a:ext cx="658368" cy="658368"/>
          </a:xfrm>
          <a:prstGeom prst="ellipse">
            <a:avLst/>
          </a:prstGeom>
          <a:solidFill>
            <a:srgbClr val="FFF2D7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773936" y="155448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B4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133856" y="20665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3B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Final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1005840" y="26334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B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207008" y="265176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login system</a:t>
            </a:r>
            <a:endParaRPr lang="en-US" sz="1440" dirty="0"/>
          </a:p>
        </p:txBody>
      </p:sp>
      <p:sp>
        <p:nvSpPr>
          <p:cNvPr id="16" name="Text 12"/>
          <p:cNvSpPr/>
          <p:nvPr/>
        </p:nvSpPr>
        <p:spPr>
          <a:xfrm>
            <a:off x="1005840" y="3072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B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207008" y="309067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farmers &amp; products in database</a:t>
            </a:r>
            <a:endParaRPr lang="en-US" sz="1440" dirty="0"/>
          </a:p>
        </p:txBody>
      </p:sp>
      <p:sp>
        <p:nvSpPr>
          <p:cNvPr id="18" name="Text 14"/>
          <p:cNvSpPr/>
          <p:nvPr/>
        </p:nvSpPr>
        <p:spPr>
          <a:xfrm>
            <a:off x="1005840" y="35112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B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207008" y="3529584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functionality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1005840" y="395020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B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207008" y="396849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messaging</a:t>
            </a:r>
            <a:endParaRPr lang="en-US" sz="1440" dirty="0"/>
          </a:p>
        </p:txBody>
      </p:sp>
      <p:sp>
        <p:nvSpPr>
          <p:cNvPr id="22" name="Shape 18"/>
          <p:cNvSpPr/>
          <p:nvPr/>
        </p:nvSpPr>
        <p:spPr>
          <a:xfrm>
            <a:off x="4041648" y="1755648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8FBF5"/>
          </a:solidFill>
          <a:ln w="12700">
            <a:solidFill>
              <a:srgbClr val="D7E4D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065776" y="1444752"/>
            <a:ext cx="658368" cy="658368"/>
          </a:xfrm>
          <a:prstGeom prst="ellipse">
            <a:avLst/>
          </a:prstGeom>
          <a:solidFill>
            <a:srgbClr val="EAF4E1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65776" y="155448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7A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425696" y="20665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E7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Time Allows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4297680" y="26334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4498848" y="265176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1440" dirty="0"/>
          </a:p>
        </p:txBody>
      </p:sp>
      <p:sp>
        <p:nvSpPr>
          <p:cNvPr id="28" name="Text 24"/>
          <p:cNvSpPr/>
          <p:nvPr/>
        </p:nvSpPr>
        <p:spPr>
          <a:xfrm>
            <a:off x="4297680" y="3072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4498848" y="309067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improvements</a:t>
            </a:r>
            <a:endParaRPr lang="en-US" sz="1440" dirty="0"/>
          </a:p>
        </p:txBody>
      </p:sp>
      <p:sp>
        <p:nvSpPr>
          <p:cNvPr id="30" name="Shape 26"/>
          <p:cNvSpPr/>
          <p:nvPr/>
        </p:nvSpPr>
        <p:spPr>
          <a:xfrm>
            <a:off x="7333488" y="1755648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4D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357616" y="1444752"/>
            <a:ext cx="658368" cy="658368"/>
          </a:xfrm>
          <a:prstGeom prst="ellipse">
            <a:avLst/>
          </a:prstGeom>
          <a:solidFill>
            <a:srgbClr val="E6F2FB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357616" y="155448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7C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717536" y="20665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C7CB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Final</a:t>
            </a:r>
            <a:endParaRPr lang="en-US" sz="1900" dirty="0"/>
          </a:p>
        </p:txBody>
      </p:sp>
      <p:sp>
        <p:nvSpPr>
          <p:cNvPr id="34" name="Text 30"/>
          <p:cNvSpPr/>
          <p:nvPr/>
        </p:nvSpPr>
        <p:spPr>
          <a:xfrm>
            <a:off x="7589520" y="26334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7C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35" name="Text 31"/>
          <p:cNvSpPr/>
          <p:nvPr/>
        </p:nvSpPr>
        <p:spPr>
          <a:xfrm>
            <a:off x="7790688" y="265176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payments</a:t>
            </a:r>
            <a:endParaRPr lang="en-US" sz="1440" dirty="0"/>
          </a:p>
        </p:txBody>
      </p:sp>
      <p:sp>
        <p:nvSpPr>
          <p:cNvPr id="36" name="Text 32"/>
          <p:cNvSpPr/>
          <p:nvPr/>
        </p:nvSpPr>
        <p:spPr>
          <a:xfrm>
            <a:off x="7589520" y="3072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7C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37" name="Text 33"/>
          <p:cNvSpPr/>
          <p:nvPr/>
        </p:nvSpPr>
        <p:spPr>
          <a:xfrm>
            <a:off x="7790688" y="309067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Rating/review system</a:t>
            </a:r>
            <a:endParaRPr lang="en-US" sz="1440" dirty="0"/>
          </a:p>
        </p:txBody>
      </p:sp>
      <p:sp>
        <p:nvSpPr>
          <p:cNvPr id="38" name="Text 34"/>
          <p:cNvSpPr/>
          <p:nvPr/>
        </p:nvSpPr>
        <p:spPr>
          <a:xfrm>
            <a:off x="7589520" y="35112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7C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2000" dirty="0"/>
          </a:p>
        </p:txBody>
      </p:sp>
      <p:sp>
        <p:nvSpPr>
          <p:cNvPr id="39" name="Text 35"/>
          <p:cNvSpPr/>
          <p:nvPr/>
        </p:nvSpPr>
        <p:spPr>
          <a:xfrm>
            <a:off x="7790688" y="3529584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app</a:t>
            </a:r>
            <a:endParaRPr lang="en-US" sz="1440" dirty="0"/>
          </a:p>
        </p:txBody>
      </p:sp>
      <p:sp>
        <p:nvSpPr>
          <p:cNvPr id="40" name="Shape 36"/>
          <p:cNvSpPr/>
          <p:nvPr/>
        </p:nvSpPr>
        <p:spPr>
          <a:xfrm>
            <a:off x="1078992" y="5632704"/>
            <a:ext cx="10012680" cy="0"/>
          </a:xfrm>
          <a:prstGeom prst="line">
            <a:avLst/>
          </a:prstGeom>
          <a:noFill/>
          <a:ln w="12700">
            <a:solidFill>
              <a:srgbClr val="A9B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508760" y="5504688"/>
            <a:ext cx="256032" cy="256032"/>
          </a:xfrm>
          <a:prstGeom prst="ellipse">
            <a:avLst/>
          </a:prstGeom>
          <a:solidFill>
            <a:srgbClr val="E3B4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074920" y="5504688"/>
            <a:ext cx="256032" cy="256032"/>
          </a:xfrm>
          <a:prstGeom prst="ellipse">
            <a:avLst/>
          </a:prstGeom>
          <a:solidFill>
            <a:srgbClr val="3E7A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641080" y="5504688"/>
            <a:ext cx="256032" cy="256032"/>
          </a:xfrm>
          <a:prstGeom prst="ellipse">
            <a:avLst/>
          </a:prstGeom>
          <a:solidFill>
            <a:srgbClr val="2C7C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44" name="AnimeFarmerIcon10" descr="Small animated cartoon anime farmer icon, waving and holding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91440"/>
            <a:ext cx="960120" cy="8520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DE8D2"/>
          </a:solidFill>
          <a:ln w="12700">
            <a:solidFill>
              <a:srgbClr val="DDE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365760" y="5394960"/>
            <a:ext cx="12984480" cy="1645920"/>
          </a:xfrm>
          <a:prstGeom prst="arc">
            <a:avLst/>
          </a:prstGeom>
          <a:solidFill>
            <a:srgbClr val="C7DDB9"/>
          </a:solidFill>
          <a:ln w="12700">
            <a:solidFill>
              <a:srgbClr val="C7DDB9"/>
            </a:solidFill>
            <a:prstDash val="solid"/>
          </a:ln>
        </p:spPr>
      </p:sp>
      <p:pic>
        <p:nvPicPr>
          <p:cNvPr id="4" name="Image 0" descr="/mnt/data/sky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170432"/>
          </a:xfrm>
          <a:prstGeom prst="rect">
            <a:avLst/>
          </a:prstGeom>
        </p:spPr>
      </p:pic>
      <p:pic>
        <p:nvPicPr>
          <p:cNvPr id="5" name="Image 1" descr="/mnt/data/sun_glow.gif"/>
          <p:cNvPicPr>
            <a:picLocks noChangeAspect="1"/>
          </p:cNvPicPr>
          <p:nvPr/>
        </p:nvPicPr>
        <p:blipFill>
          <a:blip r:embed="rId4">
            <a:alphaModFix amt="94000"/>
          </a:blip>
          <a:stretch>
            <a:fillRect/>
          </a:stretch>
        </p:blipFill>
        <p:spPr>
          <a:xfrm>
            <a:off x="10561320" y="36576"/>
            <a:ext cx="1024128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356848" y="6272784"/>
            <a:ext cx="347472" cy="347472"/>
          </a:xfrm>
          <a:prstGeom prst="ellipse">
            <a:avLst/>
          </a:prstGeom>
          <a:solidFill>
            <a:srgbClr val="29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356848" y="6332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58368" y="5120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" y="941832"/>
            <a:ext cx="1828800" cy="0"/>
          </a:xfrm>
          <a:prstGeom prst="line">
            <a:avLst/>
          </a:prstGeom>
          <a:noFill/>
          <a:ln w="12700">
            <a:solidFill>
              <a:srgbClr val="8DB17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1737360"/>
            <a:ext cx="2907792" cy="3566160"/>
          </a:xfrm>
          <a:prstGeom prst="roundRect">
            <a:avLst>
              <a:gd name="adj" fmla="val 2516"/>
            </a:avLst>
          </a:prstGeom>
          <a:solidFill>
            <a:srgbClr val="F4FAEF"/>
          </a:solidFill>
          <a:ln w="12700">
            <a:solidFill>
              <a:srgbClr val="D6E4C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691640" y="219456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0C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691640" y="230428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5C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🌱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960120" y="3383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clear solution to a real problem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977640" y="1737360"/>
            <a:ext cx="7269480" cy="3566160"/>
          </a:xfrm>
          <a:prstGeom prst="roundRect">
            <a:avLst>
              <a:gd name="adj" fmla="val 2051"/>
            </a:avLst>
          </a:prstGeom>
          <a:solidFill>
            <a:srgbClr val="FEFCF8">
              <a:alpha val="97000"/>
            </a:srgbClr>
          </a:solidFill>
          <a:ln w="12700">
            <a:solidFill>
              <a:srgbClr val="D8E4D1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315968" y="2084832"/>
            <a:ext cx="6537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FarmersHub is a clear solution to a real problem. Though it is still a work in progress, it is already a functioning prototype with real progress.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315968" y="31546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7A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We’ve built a strong foundation, and the next goal is to make the platform fully functional.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315968" y="3822192"/>
            <a:ext cx="6355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now, the main focus has been practical implementation. Moving ahead, the focus will shift toward functionality.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6" name="AnimeFarmerIcon11" descr="Small animated cartoon anime farmer icon, waving and holding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91440"/>
            <a:ext cx="960120" cy="8520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DDE8D2"/>
          </a:solidFill>
          <a:ln w="12700">
            <a:solidFill>
              <a:srgbClr val="DDE8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-365760" y="5394960"/>
            <a:ext cx="12984480" cy="1645920"/>
          </a:xfrm>
          <a:prstGeom prst="arc">
            <a:avLst/>
          </a:prstGeom>
          <a:solidFill>
            <a:srgbClr val="C7DDB9"/>
          </a:solidFill>
          <a:ln w="12700">
            <a:solidFill>
              <a:srgbClr val="C7DDB9"/>
            </a:solidFill>
            <a:prstDash val="solid"/>
          </a:ln>
        </p:spPr>
      </p:sp>
      <p:pic>
        <p:nvPicPr>
          <p:cNvPr id="4" name="Image 0" descr="/mnt/data/sky_loo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170432"/>
          </a:xfrm>
          <a:prstGeom prst="rect">
            <a:avLst/>
          </a:prstGeom>
        </p:spPr>
      </p:pic>
      <p:pic>
        <p:nvPicPr>
          <p:cNvPr id="5" name="Image 1" descr="/mnt/data/sun_glow.gif"/>
          <p:cNvPicPr>
            <a:picLocks noChangeAspect="1"/>
          </p:cNvPicPr>
          <p:nvPr/>
        </p:nvPicPr>
        <p:blipFill>
          <a:blip r:embed="rId4">
            <a:alphaModFix amt="94000"/>
          </a:blip>
          <a:stretch>
            <a:fillRect/>
          </a:stretch>
        </p:blipFill>
        <p:spPr>
          <a:xfrm>
            <a:off x="10561320" y="36576"/>
            <a:ext cx="1024128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>
              <a:alpha val="0"/>
            </a:srgbClr>
          </a:solidFill>
          <a:ln w="12700">
            <a:solidFill>
              <a:srgbClr val="F8F6E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356848" y="6272784"/>
            <a:ext cx="347472" cy="347472"/>
          </a:xfrm>
          <a:prstGeom prst="ellipse">
            <a:avLst/>
          </a:prstGeom>
          <a:solidFill>
            <a:srgbClr val="295C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356848" y="6332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 rot="10800000">
            <a:off x="-457200" y="4709160"/>
            <a:ext cx="13258800" cy="1737360"/>
          </a:xfrm>
          <a:prstGeom prst="arc">
            <a:avLst/>
          </a:prstGeom>
          <a:solidFill>
            <a:srgbClr val="9BC37A"/>
          </a:solidFill>
          <a:ln w="12700">
            <a:solidFill>
              <a:srgbClr val="9BC37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 rot="10800000">
            <a:off x="-365760" y="5074920"/>
            <a:ext cx="13075920" cy="1417320"/>
          </a:xfrm>
          <a:prstGeom prst="arc">
            <a:avLst/>
          </a:prstGeom>
          <a:solidFill>
            <a:srgbClr val="78A85A"/>
          </a:solidFill>
          <a:ln w="12700">
            <a:solidFill>
              <a:srgbClr val="78A8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rot="480000">
            <a:off x="9052560" y="1261872"/>
            <a:ext cx="1645920" cy="2743200"/>
          </a:xfrm>
          <a:prstGeom prst="ellipse">
            <a:avLst/>
          </a:prstGeom>
          <a:solidFill>
            <a:srgbClr val="8EB86B"/>
          </a:solidFill>
          <a:ln w="12700">
            <a:solidFill>
              <a:srgbClr val="8EB8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253728" y="1517904"/>
            <a:ext cx="1188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9400" dirty="0"/>
          </a:p>
        </p:txBody>
      </p:sp>
      <p:sp>
        <p:nvSpPr>
          <p:cNvPr id="13" name="Text 9"/>
          <p:cNvSpPr/>
          <p:nvPr/>
        </p:nvSpPr>
        <p:spPr>
          <a:xfrm>
            <a:off x="123444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95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3600" dirty="0"/>
          </a:p>
        </p:txBody>
      </p:sp>
      <p:sp>
        <p:nvSpPr>
          <p:cNvPr id="14" name="Shape 10"/>
          <p:cNvSpPr/>
          <p:nvPr/>
        </p:nvSpPr>
        <p:spPr>
          <a:xfrm>
            <a:off x="1298448" y="2834640"/>
            <a:ext cx="2011680" cy="0"/>
          </a:xfrm>
          <a:prstGeom prst="line">
            <a:avLst/>
          </a:prstGeom>
          <a:noFill/>
          <a:ln w="12700">
            <a:solidFill>
              <a:srgbClr val="8DB17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234440" y="3108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43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We’re happy to take any questions.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29107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6" name="Anime Farmer Wave" descr="Animated cartoon anime farmer waving and holding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417320"/>
            <a:ext cx="2834890" cy="44348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00E6E0-1855-78C9-117B-198573DA64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1" y="1719071"/>
            <a:ext cx="1042417" cy="104241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728</Words>
  <Application>Microsoft Office PowerPoint</Application>
  <PresentationFormat>Widescreen</PresentationFormat>
  <Paragraphs>200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Forte</vt:lpstr>
      <vt:lpstr>Georgia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Farmers Hub</dc:title>
  <dc:subject>Farmers Hub presentation redesign</dc:subject>
  <dc:creator>OpenAI</dc:creator>
  <cp:lastModifiedBy>Rupesh Lama</cp:lastModifiedBy>
  <cp:revision>2</cp:revision>
  <dcterms:created xsi:type="dcterms:W3CDTF">2026-04-21T18:29:21Z</dcterms:created>
  <dcterms:modified xsi:type="dcterms:W3CDTF">2026-04-22T01:41:36Z</dcterms:modified>
</cp:coreProperties>
</file>